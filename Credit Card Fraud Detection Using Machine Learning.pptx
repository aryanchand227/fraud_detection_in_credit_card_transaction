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8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2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1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5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4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2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6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5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Wednesday, December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2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43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2" r:id="rId6"/>
    <p:sldLayoutId id="2147483858" r:id="rId7"/>
    <p:sldLayoutId id="2147483859" r:id="rId8"/>
    <p:sldLayoutId id="2147483860" r:id="rId9"/>
    <p:sldLayoutId id="2147483861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117D7-56B0-85EE-6370-292BABF89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619200"/>
            <a:ext cx="4991961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 algn="l"/>
            <a:r>
              <a:rPr lang="en-US" sz="3200"/>
              <a:t>Credit Card Fraud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E7FD0-84B2-3C63-7EB0-0862EC91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541600"/>
            <a:ext cx="4991962" cy="3216273"/>
          </a:xfrm>
        </p:spPr>
        <p:txBody>
          <a:bodyPr vert="horz" lIns="0" tIns="0" rIns="0" bIns="0" rtlCol="0">
            <a:normAutofit/>
          </a:bodyPr>
          <a:lstStyle/>
          <a:p>
            <a:pPr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Course: INT -395</a:t>
            </a:r>
            <a:br>
              <a:rPr lang="en-US" sz="1700" b="1"/>
            </a:br>
            <a:r>
              <a:rPr lang="en-US" sz="1700" b="1"/>
              <a:t>project Type: Supervised machine learning</a:t>
            </a:r>
          </a:p>
          <a:p>
            <a:pPr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Team Members</a:t>
            </a:r>
          </a:p>
          <a:p>
            <a:pPr marL="342900"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Aryan </a:t>
            </a:r>
          </a:p>
          <a:p>
            <a:pPr marL="342900"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Akash</a:t>
            </a:r>
          </a:p>
          <a:p>
            <a:pPr marL="342900"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Bashu</a:t>
            </a:r>
          </a:p>
          <a:p>
            <a:pPr marL="342900" indent="-228600" algn="l">
              <a:lnSpc>
                <a:spcPct val="110000"/>
              </a:lnSpc>
              <a:buFont typeface="The Hand Extrablack" panose="03070A02030502020204" pitchFamily="66" charset="0"/>
              <a:buChar char="•"/>
            </a:pPr>
            <a:r>
              <a:rPr lang="en-US" sz="1700" b="1"/>
              <a:t>Yashwanth</a:t>
            </a:r>
            <a:br>
              <a:rPr lang="en-US" sz="1700" b="1"/>
            </a:br>
            <a:endParaRPr lang="en-US" sz="1700" b="1"/>
          </a:p>
        </p:txBody>
      </p:sp>
      <p:pic>
        <p:nvPicPr>
          <p:cNvPr id="4" name="Picture 3" descr="Abstract smoke background">
            <a:extLst>
              <a:ext uri="{FF2B5EF4-FFF2-40B4-BE49-F238E27FC236}">
                <a16:creationId xmlns:a16="http://schemas.microsoft.com/office/drawing/2014/main" id="{9FB2F7CC-4FC5-4CD6-AB2F-CF4A0D25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98" r="27090"/>
          <a:stretch>
            <a:fillRect/>
          </a:stretch>
        </p:blipFill>
        <p:spPr>
          <a:xfrm>
            <a:off x="6529063" y="10"/>
            <a:ext cx="5662937" cy="6857990"/>
          </a:xfrm>
          <a:custGeom>
            <a:avLst/>
            <a:gdLst/>
            <a:ahLst/>
            <a:cxnLst/>
            <a:rect l="l" t="t" r="r" b="b"/>
            <a:pathLst>
              <a:path w="5662937" h="6858000">
                <a:moveTo>
                  <a:pt x="598332" y="0"/>
                </a:moveTo>
                <a:lnTo>
                  <a:pt x="5662937" y="0"/>
                </a:lnTo>
                <a:lnTo>
                  <a:pt x="5662937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6" y="5515036"/>
                  <a:pt x="1066079" y="5030470"/>
                  <a:pt x="1217562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79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213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A10F56-4600-4E72-882F-DF9A3D70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E7C649-57E0-4A93-B134-67101C07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A35AF4F-B82E-435B-8949-29173A05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5412222" cy="3734405"/>
          </a:xfrm>
          <a:custGeom>
            <a:avLst/>
            <a:gdLst>
              <a:gd name="connsiteX0" fmla="*/ 1441992 w 5412222"/>
              <a:gd name="connsiteY0" fmla="*/ 2504513 h 3734405"/>
              <a:gd name="connsiteX1" fmla="*/ 1566499 w 5412222"/>
              <a:gd name="connsiteY1" fmla="*/ 2518404 h 3734405"/>
              <a:gd name="connsiteX2" fmla="*/ 1750954 w 5412222"/>
              <a:gd name="connsiteY2" fmla="*/ 2629527 h 3734405"/>
              <a:gd name="connsiteX3" fmla="*/ 1714063 w 5412222"/>
              <a:gd name="connsiteY3" fmla="*/ 3370350 h 3734405"/>
              <a:gd name="connsiteX4" fmla="*/ 1548053 w 5412222"/>
              <a:gd name="connsiteY4" fmla="*/ 3703720 h 3734405"/>
              <a:gd name="connsiteX5" fmla="*/ 1345153 w 5412222"/>
              <a:gd name="connsiteY5" fmla="*/ 3722241 h 3734405"/>
              <a:gd name="connsiteX6" fmla="*/ 1142252 w 5412222"/>
              <a:gd name="connsiteY6" fmla="*/ 3611117 h 3734405"/>
              <a:gd name="connsiteX7" fmla="*/ 1123807 w 5412222"/>
              <a:gd name="connsiteY7" fmla="*/ 3388870 h 3734405"/>
              <a:gd name="connsiteX8" fmla="*/ 1160697 w 5412222"/>
              <a:gd name="connsiteY8" fmla="*/ 3018459 h 3734405"/>
              <a:gd name="connsiteX9" fmla="*/ 1179143 w 5412222"/>
              <a:gd name="connsiteY9" fmla="*/ 2851774 h 3734405"/>
              <a:gd name="connsiteX10" fmla="*/ 1197589 w 5412222"/>
              <a:gd name="connsiteY10" fmla="*/ 2722130 h 3734405"/>
              <a:gd name="connsiteX11" fmla="*/ 1345153 w 5412222"/>
              <a:gd name="connsiteY11" fmla="*/ 2518404 h 3734405"/>
              <a:gd name="connsiteX12" fmla="*/ 1441992 w 5412222"/>
              <a:gd name="connsiteY12" fmla="*/ 2504513 h 3734405"/>
              <a:gd name="connsiteX13" fmla="*/ 2975080 w 5412222"/>
              <a:gd name="connsiteY13" fmla="*/ 2484443 h 3734405"/>
              <a:gd name="connsiteX14" fmla="*/ 3097382 w 5412222"/>
              <a:gd name="connsiteY14" fmla="*/ 2507883 h 3734405"/>
              <a:gd name="connsiteX15" fmla="*/ 3189904 w 5412222"/>
              <a:gd name="connsiteY15" fmla="*/ 2581966 h 3734405"/>
              <a:gd name="connsiteX16" fmla="*/ 3263922 w 5412222"/>
              <a:gd name="connsiteY16" fmla="*/ 2730130 h 3734405"/>
              <a:gd name="connsiteX17" fmla="*/ 3356443 w 5412222"/>
              <a:gd name="connsiteY17" fmla="*/ 3322788 h 3734405"/>
              <a:gd name="connsiteX18" fmla="*/ 3337939 w 5412222"/>
              <a:gd name="connsiteY18" fmla="*/ 3545035 h 3734405"/>
              <a:gd name="connsiteX19" fmla="*/ 3282426 w 5412222"/>
              <a:gd name="connsiteY19" fmla="*/ 3637638 h 3734405"/>
              <a:gd name="connsiteX20" fmla="*/ 3171400 w 5412222"/>
              <a:gd name="connsiteY20" fmla="*/ 3674679 h 3734405"/>
              <a:gd name="connsiteX21" fmla="*/ 3115887 w 5412222"/>
              <a:gd name="connsiteY21" fmla="*/ 3693200 h 3734405"/>
              <a:gd name="connsiteX22" fmla="*/ 2967852 w 5412222"/>
              <a:gd name="connsiteY22" fmla="*/ 3674679 h 3734405"/>
              <a:gd name="connsiteX23" fmla="*/ 2838321 w 5412222"/>
              <a:gd name="connsiteY23" fmla="*/ 3563556 h 3734405"/>
              <a:gd name="connsiteX24" fmla="*/ 2782808 w 5412222"/>
              <a:gd name="connsiteY24" fmla="*/ 3359829 h 3734405"/>
              <a:gd name="connsiteX25" fmla="*/ 2764304 w 5412222"/>
              <a:gd name="connsiteY25" fmla="*/ 3156103 h 3734405"/>
              <a:gd name="connsiteX26" fmla="*/ 2708791 w 5412222"/>
              <a:gd name="connsiteY26" fmla="*/ 2878295 h 3734405"/>
              <a:gd name="connsiteX27" fmla="*/ 2690286 w 5412222"/>
              <a:gd name="connsiteY27" fmla="*/ 2637527 h 3734405"/>
              <a:gd name="connsiteX28" fmla="*/ 2912339 w 5412222"/>
              <a:gd name="connsiteY28" fmla="*/ 2489363 h 3734405"/>
              <a:gd name="connsiteX29" fmla="*/ 2975080 w 5412222"/>
              <a:gd name="connsiteY29" fmla="*/ 2484443 h 3734405"/>
              <a:gd name="connsiteX30" fmla="*/ 4122198 w 5412222"/>
              <a:gd name="connsiteY30" fmla="*/ 1964873 h 3734405"/>
              <a:gd name="connsiteX31" fmla="*/ 4289154 w 5412222"/>
              <a:gd name="connsiteY31" fmla="*/ 2020607 h 3734405"/>
              <a:gd name="connsiteX32" fmla="*/ 4437557 w 5412222"/>
              <a:gd name="connsiteY32" fmla="*/ 2169233 h 3734405"/>
              <a:gd name="connsiteX33" fmla="*/ 4567411 w 5412222"/>
              <a:gd name="connsiteY33" fmla="*/ 2336436 h 3734405"/>
              <a:gd name="connsiteX34" fmla="*/ 4752916 w 5412222"/>
              <a:gd name="connsiteY34" fmla="*/ 2540795 h 3734405"/>
              <a:gd name="connsiteX35" fmla="*/ 4882769 w 5412222"/>
              <a:gd name="connsiteY35" fmla="*/ 2763733 h 3734405"/>
              <a:gd name="connsiteX36" fmla="*/ 4771467 w 5412222"/>
              <a:gd name="connsiteY36" fmla="*/ 2986671 h 3734405"/>
              <a:gd name="connsiteX37" fmla="*/ 4567411 w 5412222"/>
              <a:gd name="connsiteY37" fmla="*/ 3060983 h 3734405"/>
              <a:gd name="connsiteX38" fmla="*/ 4474659 w 5412222"/>
              <a:gd name="connsiteY38" fmla="*/ 3042405 h 3734405"/>
              <a:gd name="connsiteX39" fmla="*/ 4344804 w 5412222"/>
              <a:gd name="connsiteY39" fmla="*/ 2949514 h 3734405"/>
              <a:gd name="connsiteX40" fmla="*/ 3955244 w 5412222"/>
              <a:gd name="connsiteY40" fmla="*/ 2466483 h 3734405"/>
              <a:gd name="connsiteX41" fmla="*/ 3862491 w 5412222"/>
              <a:gd name="connsiteY41" fmla="*/ 2280701 h 3734405"/>
              <a:gd name="connsiteX42" fmla="*/ 3881042 w 5412222"/>
              <a:gd name="connsiteY42" fmla="*/ 2169233 h 3734405"/>
              <a:gd name="connsiteX43" fmla="*/ 3936693 w 5412222"/>
              <a:gd name="connsiteY43" fmla="*/ 2076342 h 3734405"/>
              <a:gd name="connsiteX44" fmla="*/ 3992345 w 5412222"/>
              <a:gd name="connsiteY44" fmla="*/ 2039186 h 3734405"/>
              <a:gd name="connsiteX45" fmla="*/ 4122198 w 5412222"/>
              <a:gd name="connsiteY45" fmla="*/ 1964873 h 3734405"/>
              <a:gd name="connsiteX46" fmla="*/ 146310 w 5412222"/>
              <a:gd name="connsiteY46" fmla="*/ 1953889 h 3734405"/>
              <a:gd name="connsiteX47" fmla="*/ 350366 w 5412222"/>
              <a:gd name="connsiteY47" fmla="*/ 2046733 h 3734405"/>
              <a:gd name="connsiteX48" fmla="*/ 443118 w 5412222"/>
              <a:gd name="connsiteY48" fmla="*/ 2232420 h 3734405"/>
              <a:gd name="connsiteX49" fmla="*/ 368916 w 5412222"/>
              <a:gd name="connsiteY49" fmla="*/ 2455245 h 3734405"/>
              <a:gd name="connsiteX50" fmla="*/ 55877 w 5412222"/>
              <a:gd name="connsiteY50" fmla="*/ 2823429 h 3734405"/>
              <a:gd name="connsiteX51" fmla="*/ 0 w 5412222"/>
              <a:gd name="connsiteY51" fmla="*/ 2890207 h 3734405"/>
              <a:gd name="connsiteX52" fmla="*/ 0 w 5412222"/>
              <a:gd name="connsiteY52" fmla="*/ 2010548 h 3734405"/>
              <a:gd name="connsiteX53" fmla="*/ 48920 w 5412222"/>
              <a:gd name="connsiteY53" fmla="*/ 1981743 h 3734405"/>
              <a:gd name="connsiteX54" fmla="*/ 146310 w 5412222"/>
              <a:gd name="connsiteY54" fmla="*/ 1953889 h 3734405"/>
              <a:gd name="connsiteX55" fmla="*/ 4987001 w 5412222"/>
              <a:gd name="connsiteY55" fmla="*/ 730996 h 3734405"/>
              <a:gd name="connsiteX56" fmla="*/ 5079441 w 5412222"/>
              <a:gd name="connsiteY56" fmla="*/ 730996 h 3734405"/>
              <a:gd name="connsiteX57" fmla="*/ 5338271 w 5412222"/>
              <a:gd name="connsiteY57" fmla="*/ 804801 h 3734405"/>
              <a:gd name="connsiteX58" fmla="*/ 5412222 w 5412222"/>
              <a:gd name="connsiteY58" fmla="*/ 970860 h 3734405"/>
              <a:gd name="connsiteX59" fmla="*/ 5412222 w 5412222"/>
              <a:gd name="connsiteY59" fmla="*/ 1100017 h 3734405"/>
              <a:gd name="connsiteX60" fmla="*/ 5338271 w 5412222"/>
              <a:gd name="connsiteY60" fmla="*/ 1266077 h 3734405"/>
              <a:gd name="connsiteX61" fmla="*/ 5171880 w 5412222"/>
              <a:gd name="connsiteY61" fmla="*/ 1339881 h 3734405"/>
              <a:gd name="connsiteX62" fmla="*/ 4913050 w 5412222"/>
              <a:gd name="connsiteY62" fmla="*/ 1339881 h 3734405"/>
              <a:gd name="connsiteX63" fmla="*/ 4580268 w 5412222"/>
              <a:gd name="connsiteY63" fmla="*/ 1339881 h 3734405"/>
              <a:gd name="connsiteX64" fmla="*/ 4413877 w 5412222"/>
              <a:gd name="connsiteY64" fmla="*/ 1321430 h 3734405"/>
              <a:gd name="connsiteX65" fmla="*/ 4247486 w 5412222"/>
              <a:gd name="connsiteY65" fmla="*/ 1247626 h 3734405"/>
              <a:gd name="connsiteX66" fmla="*/ 4192022 w 5412222"/>
              <a:gd name="connsiteY66" fmla="*/ 1118468 h 3734405"/>
              <a:gd name="connsiteX67" fmla="*/ 4192022 w 5412222"/>
              <a:gd name="connsiteY67" fmla="*/ 1026213 h 3734405"/>
              <a:gd name="connsiteX68" fmla="*/ 4247486 w 5412222"/>
              <a:gd name="connsiteY68" fmla="*/ 860154 h 3734405"/>
              <a:gd name="connsiteX69" fmla="*/ 4395389 w 5412222"/>
              <a:gd name="connsiteY69" fmla="*/ 786350 h 3734405"/>
              <a:gd name="connsiteX70" fmla="*/ 4617243 w 5412222"/>
              <a:gd name="connsiteY70" fmla="*/ 767899 h 3734405"/>
              <a:gd name="connsiteX71" fmla="*/ 4987001 w 5412222"/>
              <a:gd name="connsiteY71" fmla="*/ 730996 h 3734405"/>
              <a:gd name="connsiteX72" fmla="*/ 3807960 w 5412222"/>
              <a:gd name="connsiteY72" fmla="*/ 0 h 3734405"/>
              <a:gd name="connsiteX73" fmla="*/ 4404064 w 5412222"/>
              <a:gd name="connsiteY73" fmla="*/ 0 h 3734405"/>
              <a:gd name="connsiteX74" fmla="*/ 4368291 w 5412222"/>
              <a:gd name="connsiteY74" fmla="*/ 41360 h 3734405"/>
              <a:gd name="connsiteX75" fmla="*/ 4329548 w 5412222"/>
              <a:gd name="connsiteY75" fmla="*/ 87787 h 3734405"/>
              <a:gd name="connsiteX76" fmla="*/ 4107495 w 5412222"/>
              <a:gd name="connsiteY76" fmla="*/ 198776 h 3734405"/>
              <a:gd name="connsiteX77" fmla="*/ 3885443 w 5412222"/>
              <a:gd name="connsiteY77" fmla="*/ 106285 h 3734405"/>
              <a:gd name="connsiteX78" fmla="*/ 3818365 w 5412222"/>
              <a:gd name="connsiteY78" fmla="*/ 23043 h 373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412222" h="3734405">
                <a:moveTo>
                  <a:pt x="1441992" y="2504513"/>
                </a:moveTo>
                <a:cubicBezTo>
                  <a:pt x="1478883" y="2504513"/>
                  <a:pt x="1520385" y="2509143"/>
                  <a:pt x="1566499" y="2518404"/>
                </a:cubicBezTo>
                <a:cubicBezTo>
                  <a:pt x="1658726" y="2536924"/>
                  <a:pt x="1732509" y="2573965"/>
                  <a:pt x="1750954" y="2629527"/>
                </a:cubicBezTo>
                <a:cubicBezTo>
                  <a:pt x="1787845" y="2703609"/>
                  <a:pt x="1714063" y="3296268"/>
                  <a:pt x="1714063" y="3370350"/>
                </a:cubicBezTo>
                <a:cubicBezTo>
                  <a:pt x="1695617" y="3555556"/>
                  <a:pt x="1658726" y="3666679"/>
                  <a:pt x="1548053" y="3703720"/>
                </a:cubicBezTo>
                <a:cubicBezTo>
                  <a:pt x="1492717" y="3740761"/>
                  <a:pt x="1418935" y="3740761"/>
                  <a:pt x="1345153" y="3722241"/>
                </a:cubicBezTo>
                <a:cubicBezTo>
                  <a:pt x="1252925" y="3722241"/>
                  <a:pt x="1179143" y="3685199"/>
                  <a:pt x="1142252" y="3611117"/>
                </a:cubicBezTo>
                <a:cubicBezTo>
                  <a:pt x="1123807" y="3555556"/>
                  <a:pt x="1105361" y="3481473"/>
                  <a:pt x="1123807" y="3388870"/>
                </a:cubicBezTo>
                <a:cubicBezTo>
                  <a:pt x="1123807" y="3388870"/>
                  <a:pt x="1160697" y="3055500"/>
                  <a:pt x="1160697" y="3018459"/>
                </a:cubicBezTo>
                <a:cubicBezTo>
                  <a:pt x="1160697" y="2962897"/>
                  <a:pt x="1179143" y="2870294"/>
                  <a:pt x="1179143" y="2851774"/>
                </a:cubicBezTo>
                <a:cubicBezTo>
                  <a:pt x="1197589" y="2722130"/>
                  <a:pt x="1197589" y="2722130"/>
                  <a:pt x="1197589" y="2722130"/>
                </a:cubicBezTo>
                <a:cubicBezTo>
                  <a:pt x="1234480" y="2611007"/>
                  <a:pt x="1289816" y="2555445"/>
                  <a:pt x="1345153" y="2518404"/>
                </a:cubicBezTo>
                <a:cubicBezTo>
                  <a:pt x="1372821" y="2509143"/>
                  <a:pt x="1405101" y="2504513"/>
                  <a:pt x="1441992" y="2504513"/>
                </a:cubicBezTo>
                <a:close/>
                <a:moveTo>
                  <a:pt x="2975080" y="2484443"/>
                </a:moveTo>
                <a:cubicBezTo>
                  <a:pt x="3031460" y="2487048"/>
                  <a:pt x="3069626" y="2507883"/>
                  <a:pt x="3097382" y="2507883"/>
                </a:cubicBezTo>
                <a:cubicBezTo>
                  <a:pt x="3134391" y="2526404"/>
                  <a:pt x="3152895" y="2544924"/>
                  <a:pt x="3189904" y="2581966"/>
                </a:cubicBezTo>
                <a:cubicBezTo>
                  <a:pt x="3208409" y="2619007"/>
                  <a:pt x="3226913" y="2656048"/>
                  <a:pt x="3263922" y="2730130"/>
                </a:cubicBezTo>
                <a:cubicBezTo>
                  <a:pt x="3282426" y="2804212"/>
                  <a:pt x="3356443" y="3322788"/>
                  <a:pt x="3356443" y="3322788"/>
                </a:cubicBezTo>
                <a:cubicBezTo>
                  <a:pt x="3374948" y="3433912"/>
                  <a:pt x="3356443" y="3507994"/>
                  <a:pt x="3337939" y="3545035"/>
                </a:cubicBezTo>
                <a:cubicBezTo>
                  <a:pt x="3319435" y="3582076"/>
                  <a:pt x="3300930" y="3619117"/>
                  <a:pt x="3282426" y="3637638"/>
                </a:cubicBezTo>
                <a:cubicBezTo>
                  <a:pt x="3245417" y="3656158"/>
                  <a:pt x="3208409" y="3656158"/>
                  <a:pt x="3171400" y="3674679"/>
                </a:cubicBezTo>
                <a:cubicBezTo>
                  <a:pt x="3152895" y="3674679"/>
                  <a:pt x="3134391" y="3693200"/>
                  <a:pt x="3115887" y="3693200"/>
                </a:cubicBezTo>
                <a:cubicBezTo>
                  <a:pt x="3060374" y="3711720"/>
                  <a:pt x="3004860" y="3711720"/>
                  <a:pt x="2967852" y="3674679"/>
                </a:cubicBezTo>
                <a:cubicBezTo>
                  <a:pt x="2912339" y="3656158"/>
                  <a:pt x="2875330" y="3619117"/>
                  <a:pt x="2838321" y="3563556"/>
                </a:cubicBezTo>
                <a:cubicBezTo>
                  <a:pt x="2801312" y="3507994"/>
                  <a:pt x="2782808" y="3433912"/>
                  <a:pt x="2782808" y="3359829"/>
                </a:cubicBezTo>
                <a:cubicBezTo>
                  <a:pt x="2764304" y="3156103"/>
                  <a:pt x="2764304" y="3156103"/>
                  <a:pt x="2764304" y="3156103"/>
                </a:cubicBezTo>
                <a:cubicBezTo>
                  <a:pt x="2708791" y="2878295"/>
                  <a:pt x="2708791" y="2878295"/>
                  <a:pt x="2708791" y="2878295"/>
                </a:cubicBezTo>
                <a:cubicBezTo>
                  <a:pt x="2671782" y="2767171"/>
                  <a:pt x="2671782" y="2693089"/>
                  <a:pt x="2690286" y="2637527"/>
                </a:cubicBezTo>
                <a:cubicBezTo>
                  <a:pt x="2727295" y="2563445"/>
                  <a:pt x="2801312" y="2489363"/>
                  <a:pt x="2912339" y="2489363"/>
                </a:cubicBezTo>
                <a:cubicBezTo>
                  <a:pt x="2935469" y="2484733"/>
                  <a:pt x="2956286" y="2483575"/>
                  <a:pt x="2975080" y="2484443"/>
                </a:cubicBezTo>
                <a:close/>
                <a:moveTo>
                  <a:pt x="4122198" y="1964873"/>
                </a:moveTo>
                <a:cubicBezTo>
                  <a:pt x="4177850" y="1964873"/>
                  <a:pt x="4233502" y="1983451"/>
                  <a:pt x="4289154" y="2020607"/>
                </a:cubicBezTo>
                <a:cubicBezTo>
                  <a:pt x="4344804" y="2039186"/>
                  <a:pt x="4400456" y="2094920"/>
                  <a:pt x="4437557" y="2169233"/>
                </a:cubicBezTo>
                <a:cubicBezTo>
                  <a:pt x="4567411" y="2336436"/>
                  <a:pt x="4567411" y="2336436"/>
                  <a:pt x="4567411" y="2336436"/>
                </a:cubicBezTo>
                <a:cubicBezTo>
                  <a:pt x="4752916" y="2540795"/>
                  <a:pt x="4752916" y="2540795"/>
                  <a:pt x="4752916" y="2540795"/>
                </a:cubicBezTo>
                <a:cubicBezTo>
                  <a:pt x="4827118" y="2633686"/>
                  <a:pt x="4864220" y="2707999"/>
                  <a:pt x="4882769" y="2763733"/>
                </a:cubicBezTo>
                <a:cubicBezTo>
                  <a:pt x="4882769" y="2838046"/>
                  <a:pt x="4864220" y="2930936"/>
                  <a:pt x="4771467" y="2986671"/>
                </a:cubicBezTo>
                <a:cubicBezTo>
                  <a:pt x="4697264" y="3042405"/>
                  <a:pt x="4623063" y="3060983"/>
                  <a:pt x="4567411" y="3060983"/>
                </a:cubicBezTo>
                <a:cubicBezTo>
                  <a:pt x="4548860" y="3060983"/>
                  <a:pt x="4511759" y="3060983"/>
                  <a:pt x="4474659" y="3042405"/>
                </a:cubicBezTo>
                <a:cubicBezTo>
                  <a:pt x="4437557" y="3023827"/>
                  <a:pt x="4400456" y="2986671"/>
                  <a:pt x="4344804" y="2949514"/>
                </a:cubicBezTo>
                <a:cubicBezTo>
                  <a:pt x="4289154" y="2893780"/>
                  <a:pt x="3955244" y="2466483"/>
                  <a:pt x="3955244" y="2466483"/>
                </a:cubicBezTo>
                <a:cubicBezTo>
                  <a:pt x="3899592" y="2392170"/>
                  <a:pt x="3862491" y="2317858"/>
                  <a:pt x="3862491" y="2280701"/>
                </a:cubicBezTo>
                <a:cubicBezTo>
                  <a:pt x="3862491" y="2224967"/>
                  <a:pt x="3862491" y="2187811"/>
                  <a:pt x="3881042" y="2169233"/>
                </a:cubicBezTo>
                <a:cubicBezTo>
                  <a:pt x="3899592" y="2132076"/>
                  <a:pt x="3918143" y="2113498"/>
                  <a:pt x="3936693" y="2076342"/>
                </a:cubicBezTo>
                <a:cubicBezTo>
                  <a:pt x="3973794" y="2057764"/>
                  <a:pt x="3992345" y="2039186"/>
                  <a:pt x="3992345" y="2039186"/>
                </a:cubicBezTo>
                <a:cubicBezTo>
                  <a:pt x="4029446" y="2002029"/>
                  <a:pt x="4085097" y="1983451"/>
                  <a:pt x="4122198" y="1964873"/>
                </a:cubicBezTo>
                <a:close/>
                <a:moveTo>
                  <a:pt x="146310" y="1953889"/>
                </a:moveTo>
                <a:cubicBezTo>
                  <a:pt x="201962" y="1953889"/>
                  <a:pt x="276164" y="1991027"/>
                  <a:pt x="350366" y="2046733"/>
                </a:cubicBezTo>
                <a:cubicBezTo>
                  <a:pt x="424568" y="2102439"/>
                  <a:pt x="443118" y="2176714"/>
                  <a:pt x="443118" y="2232420"/>
                </a:cubicBezTo>
                <a:cubicBezTo>
                  <a:pt x="443118" y="2288126"/>
                  <a:pt x="424568" y="2362401"/>
                  <a:pt x="368916" y="2455245"/>
                </a:cubicBezTo>
                <a:cubicBezTo>
                  <a:pt x="368916" y="2455245"/>
                  <a:pt x="181092" y="2674589"/>
                  <a:pt x="55877" y="2823429"/>
                </a:cubicBezTo>
                <a:lnTo>
                  <a:pt x="0" y="2890207"/>
                </a:lnTo>
                <a:lnTo>
                  <a:pt x="0" y="2010548"/>
                </a:lnTo>
                <a:lnTo>
                  <a:pt x="48920" y="1981743"/>
                </a:lnTo>
                <a:cubicBezTo>
                  <a:pt x="86021" y="1963174"/>
                  <a:pt x="118485" y="1953889"/>
                  <a:pt x="146310" y="1953889"/>
                </a:cubicBezTo>
                <a:close/>
                <a:moveTo>
                  <a:pt x="4987001" y="730996"/>
                </a:moveTo>
                <a:cubicBezTo>
                  <a:pt x="5079441" y="730996"/>
                  <a:pt x="5079441" y="730996"/>
                  <a:pt x="5079441" y="730996"/>
                </a:cubicBezTo>
                <a:cubicBezTo>
                  <a:pt x="5190368" y="749448"/>
                  <a:pt x="5282808" y="786350"/>
                  <a:pt x="5338271" y="804801"/>
                </a:cubicBezTo>
                <a:cubicBezTo>
                  <a:pt x="5393734" y="841703"/>
                  <a:pt x="5412222" y="897056"/>
                  <a:pt x="5412222" y="970860"/>
                </a:cubicBezTo>
                <a:cubicBezTo>
                  <a:pt x="5412222" y="1007762"/>
                  <a:pt x="5412222" y="1044664"/>
                  <a:pt x="5412222" y="1100017"/>
                </a:cubicBezTo>
                <a:cubicBezTo>
                  <a:pt x="5393734" y="1155371"/>
                  <a:pt x="5375246" y="1210724"/>
                  <a:pt x="5338271" y="1266077"/>
                </a:cubicBezTo>
                <a:cubicBezTo>
                  <a:pt x="5301295" y="1302979"/>
                  <a:pt x="5245832" y="1321430"/>
                  <a:pt x="5171880" y="1339881"/>
                </a:cubicBezTo>
                <a:cubicBezTo>
                  <a:pt x="5060954" y="1339881"/>
                  <a:pt x="5171880" y="1358332"/>
                  <a:pt x="4913050" y="1339881"/>
                </a:cubicBezTo>
                <a:cubicBezTo>
                  <a:pt x="4635731" y="1339881"/>
                  <a:pt x="4580268" y="1339881"/>
                  <a:pt x="4580268" y="1339881"/>
                </a:cubicBezTo>
                <a:cubicBezTo>
                  <a:pt x="4413877" y="1321430"/>
                  <a:pt x="4413877" y="1321430"/>
                  <a:pt x="4413877" y="1321430"/>
                </a:cubicBezTo>
                <a:cubicBezTo>
                  <a:pt x="4321437" y="1302979"/>
                  <a:pt x="4265974" y="1284528"/>
                  <a:pt x="4247486" y="1247626"/>
                </a:cubicBezTo>
                <a:cubicBezTo>
                  <a:pt x="4210510" y="1210724"/>
                  <a:pt x="4192022" y="1173821"/>
                  <a:pt x="4192022" y="1118468"/>
                </a:cubicBezTo>
                <a:cubicBezTo>
                  <a:pt x="4192022" y="1118468"/>
                  <a:pt x="4192022" y="1081566"/>
                  <a:pt x="4192022" y="1026213"/>
                </a:cubicBezTo>
                <a:cubicBezTo>
                  <a:pt x="4192022" y="970860"/>
                  <a:pt x="4210510" y="915507"/>
                  <a:pt x="4247486" y="860154"/>
                </a:cubicBezTo>
                <a:cubicBezTo>
                  <a:pt x="4265974" y="823252"/>
                  <a:pt x="4321437" y="786350"/>
                  <a:pt x="4395389" y="786350"/>
                </a:cubicBezTo>
                <a:cubicBezTo>
                  <a:pt x="4487828" y="767899"/>
                  <a:pt x="4561780" y="767899"/>
                  <a:pt x="4617243" y="767899"/>
                </a:cubicBezTo>
                <a:cubicBezTo>
                  <a:pt x="4783634" y="749448"/>
                  <a:pt x="4876074" y="730996"/>
                  <a:pt x="4987001" y="730996"/>
                </a:cubicBezTo>
                <a:close/>
                <a:moveTo>
                  <a:pt x="3807960" y="0"/>
                </a:moveTo>
                <a:lnTo>
                  <a:pt x="4404064" y="0"/>
                </a:lnTo>
                <a:lnTo>
                  <a:pt x="4368291" y="41360"/>
                </a:lnTo>
                <a:cubicBezTo>
                  <a:pt x="4352100" y="60329"/>
                  <a:pt x="4338800" y="76226"/>
                  <a:pt x="4329548" y="87787"/>
                </a:cubicBezTo>
                <a:cubicBezTo>
                  <a:pt x="4255530" y="161780"/>
                  <a:pt x="4181513" y="198776"/>
                  <a:pt x="4107495" y="198776"/>
                </a:cubicBezTo>
                <a:cubicBezTo>
                  <a:pt x="4033478" y="217275"/>
                  <a:pt x="3959460" y="180278"/>
                  <a:pt x="3885443" y="106285"/>
                </a:cubicBezTo>
                <a:cubicBezTo>
                  <a:pt x="3857687" y="78538"/>
                  <a:pt x="3834556" y="50790"/>
                  <a:pt x="3818365" y="230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58A3D-949E-8DD8-2B87-055EF6CF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1"/>
            <a:ext cx="3095626" cy="1477328"/>
          </a:xfrm>
        </p:spPr>
        <p:txBody>
          <a:bodyPr>
            <a:normAutofit/>
          </a:bodyPr>
          <a:lstStyle/>
          <a:p>
            <a:r>
              <a:rPr lang="en-IN" sz="3000"/>
              <a:t>PRESENTATION OUTLINE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89E7BF1-53A4-F51C-1BFD-A1102C782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000" y="633600"/>
            <a:ext cx="4991962" cy="513537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1. Introduction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2. Background &amp; Problem Statement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3. Dataset Overview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4. Data Processing &amp; Feature Engineering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5. Machine Learning Models Used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6. Model Evaluation Strategy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7. Model Comparison &amp; Best Model Selection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8. Caveats &amp; Limitations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9. Conclusion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10. References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/>
              <a:t>11. Acknowledgement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214535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ADB1C7-AF02-4151-8471-936B11C6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634659-EB30-49C4-A039-A7273234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C2BA4-7AE4-E59A-68BC-6093ED94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2"/>
            <a:ext cx="5010240" cy="2061524"/>
          </a:xfrm>
        </p:spPr>
        <p:txBody>
          <a:bodyPr>
            <a:normAutofit/>
          </a:bodyPr>
          <a:lstStyle/>
          <a:p>
            <a:r>
              <a:rPr lang="en-IN" dirty="0"/>
              <a:t>BACKGROUND &amp;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245AC-07C2-2DFE-43E5-B6E5A57A8BB7}"/>
              </a:ext>
            </a:extLst>
          </p:cNvPr>
          <p:cNvSpPr txBox="1"/>
          <p:nvPr/>
        </p:nvSpPr>
        <p:spPr>
          <a:xfrm>
            <a:off x="5593080" y="4177274"/>
            <a:ext cx="64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  <a:cs typeface="Raavi" panose="020B0502040204020203" pitchFamily="34" charset="0"/>
              </a:rPr>
              <a:t>Project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Use the Kaggle credit card fraud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Train multiple ML models and compare their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Select the best model based on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Recall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 and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ROC-AUC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Make the system capable of predicting fraud for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new incoming transactions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35151-FC64-F193-41C6-F000C9C33CC6}"/>
              </a:ext>
            </a:extLst>
          </p:cNvPr>
          <p:cNvSpPr txBox="1"/>
          <p:nvPr/>
        </p:nvSpPr>
        <p:spPr>
          <a:xfrm>
            <a:off x="5593080" y="2828835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  <a:cs typeface="Raavi" panose="020B0502040204020203" pitchFamily="34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Raavi" panose="020B0502040204020203" pitchFamily="34" charset="0"/>
                <a:cs typeface="Raavi" panose="020B0502040204020203" pitchFamily="34" charset="0"/>
              </a:rPr>
              <a:t>Build a supervised machine learning model that classifies each transaction as either </a:t>
            </a:r>
            <a:r>
              <a:rPr lang="en-US" b="1" i="1" dirty="0">
                <a:latin typeface="Raavi" panose="020B0502040204020203" pitchFamily="34" charset="0"/>
                <a:cs typeface="Raavi" panose="020B0502040204020203" pitchFamily="34" charset="0"/>
              </a:rPr>
              <a:t>Fraud (1)</a:t>
            </a:r>
            <a:r>
              <a:rPr lang="en-US" i="1" dirty="0">
                <a:latin typeface="Raavi" panose="020B0502040204020203" pitchFamily="34" charset="0"/>
                <a:cs typeface="Raavi" panose="020B0502040204020203" pitchFamily="34" charset="0"/>
              </a:rPr>
              <a:t> or </a:t>
            </a:r>
            <a:r>
              <a:rPr lang="en-US" b="1" i="1" dirty="0">
                <a:latin typeface="Raavi" panose="020B0502040204020203" pitchFamily="34" charset="0"/>
                <a:cs typeface="Raavi" panose="020B0502040204020203" pitchFamily="34" charset="0"/>
              </a:rPr>
              <a:t>Genuine (0)</a:t>
            </a:r>
            <a:r>
              <a:rPr lang="en-US" i="1" dirty="0">
                <a:latin typeface="Raavi" panose="020B0502040204020203" pitchFamily="34" charset="0"/>
                <a:cs typeface="Raavi" panose="020B0502040204020203" pitchFamily="34" charset="0"/>
              </a:rPr>
              <a:t> using historical transaction data.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BB91-E237-4385-8F7F-DEB561AF25CF}"/>
              </a:ext>
            </a:extLst>
          </p:cNvPr>
          <p:cNvSpPr txBox="1"/>
          <p:nvPr/>
        </p:nvSpPr>
        <p:spPr>
          <a:xfrm>
            <a:off x="5593080" y="619201"/>
            <a:ext cx="6065520" cy="205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masis MT Pro Black" panose="02040A04050005020304" pitchFamily="18" charset="0"/>
                <a:cs typeface="Raavi" panose="020B0502040204020203" pitchFamily="34" charset="0"/>
              </a:rPr>
              <a:t>Why Machine Learning?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ML can learn </a:t>
            </a:r>
            <a:r>
              <a:rPr lang="en-US" b="1">
                <a:latin typeface="Raavi" panose="020B0502040204020203" pitchFamily="34" charset="0"/>
                <a:cs typeface="Raavi" panose="020B0502040204020203" pitchFamily="34" charset="0"/>
              </a:rPr>
              <a:t>complex patterns</a:t>
            </a: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 hidden inside transaction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It automatically adapts to </a:t>
            </a:r>
            <a:r>
              <a:rPr lang="en-US" b="1">
                <a:latin typeface="Raavi" panose="020B0502040204020203" pitchFamily="34" charset="0"/>
                <a:cs typeface="Raavi" panose="020B0502040204020203" pitchFamily="34" charset="0"/>
              </a:rPr>
              <a:t>new types of fraud</a:t>
            </a: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Enables </a:t>
            </a:r>
            <a:r>
              <a:rPr lang="en-US" b="1">
                <a:latin typeface="Raavi" panose="020B0502040204020203" pitchFamily="34" charset="0"/>
                <a:cs typeface="Raavi" panose="020B0502040204020203" pitchFamily="34" charset="0"/>
              </a:rPr>
              <a:t>real-time detection</a:t>
            </a: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 and reduces financial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Raavi" panose="020B0502040204020203" pitchFamily="34" charset="0"/>
                <a:cs typeface="Raavi" panose="020B0502040204020203" pitchFamily="34" charset="0"/>
              </a:rPr>
              <a:t>Effective for large-scale, high-speed environments.</a:t>
            </a:r>
          </a:p>
          <a:p>
            <a:endParaRPr lang="en-IN" dirty="0">
              <a:latin typeface="Raavi" panose="020B0502040204020203" pitchFamily="34" charset="0"/>
              <a:cs typeface="Raav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4DB48-D7CA-F1E9-84ED-A61FB42052E5}"/>
              </a:ext>
            </a:extLst>
          </p:cNvPr>
          <p:cNvSpPr txBox="1"/>
          <p:nvPr/>
        </p:nvSpPr>
        <p:spPr>
          <a:xfrm>
            <a:off x="320040" y="3299928"/>
            <a:ext cx="5074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F0502020204030204" pitchFamily="18" charset="0"/>
                <a:cs typeface="Raavi" panose="020B0502040204020203" pitchFamily="34" charset="0"/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Digital payments and online transactions have grown rapidly.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With this growth,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credit card fraud cases have also increased globally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Traditional rule-based fraud detection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Are slow to update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Cannot handle new fraud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Struggle with large volumes of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15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6114-C703-05FD-41BD-720212B7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595" y="560425"/>
            <a:ext cx="8586810" cy="1057200"/>
          </a:xfrm>
        </p:spPr>
        <p:txBody>
          <a:bodyPr/>
          <a:lstStyle/>
          <a:p>
            <a:pPr algn="r"/>
            <a:r>
              <a:rPr lang="en-IN" dirty="0"/>
              <a:t>DATASET OVERVIEW &amp; DATA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C2C40-06A2-7A8D-5A05-CCA0335D95CF}"/>
              </a:ext>
            </a:extLst>
          </p:cNvPr>
          <p:cNvSpPr txBox="1"/>
          <p:nvPr/>
        </p:nvSpPr>
        <p:spPr>
          <a:xfrm>
            <a:off x="320040" y="2011680"/>
            <a:ext cx="5775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masis MT Pro Black" panose="02040A04050005020304" pitchFamily="18" charset="0"/>
              </a:rPr>
              <a:t>Dataset Overview</a:t>
            </a:r>
            <a:endParaRPr lang="en-IN" b="1" dirty="0">
              <a:latin typeface="Amasis MT Pro Black" panose="02040A04050005020304" pitchFamily="18" charset="0"/>
              <a:cs typeface="Raav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Source: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Kaggle Credit Card Fraud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Total Records: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</a:t>
            </a: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284,807 transactions</a:t>
            </a:r>
            <a:endParaRPr lang="en-IN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Fraud Cases: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</a:t>
            </a: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492 (0.17%)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→ extremely imbalanced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Feature Set:</a:t>
            </a:r>
            <a:endParaRPr lang="en-IN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V1–V28: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PCA-transformed components for anonymity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Time: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Seconds elapsed from first transaction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Amount: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Transaction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Class:</a:t>
            </a: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 Target label (0 = genuine, 1 = fraud)</a:t>
            </a:r>
          </a:p>
          <a:p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Key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Severe </a:t>
            </a:r>
            <a:r>
              <a:rPr lang="en-IN" b="1" dirty="0">
                <a:latin typeface="Raavi" panose="020B0502040204020203" pitchFamily="34" charset="0"/>
                <a:cs typeface="Raavi" panose="020B0502040204020203" pitchFamily="34" charset="0"/>
              </a:rPr>
              <a:t>class imbalance</a:t>
            </a:r>
            <a:endParaRPr lang="en-IN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Features transformed using PCA → limited interpretability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Raavi" panose="020B0502040204020203" pitchFamily="34" charset="0"/>
                <a:cs typeface="Raavi" panose="020B0502040204020203" pitchFamily="34" charset="0"/>
              </a:rPr>
              <a:t>Fraud patterns hidden in subtle numeric variations</a:t>
            </a:r>
          </a:p>
          <a:p>
            <a:endParaRPr lang="en-IN" b="1" dirty="0">
              <a:latin typeface="Amasis MT Pro Black" panose="02040A040500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7555F82-1989-8989-C7AB-9DBC75A7A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144697"/>
            <a:ext cx="577596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Data Processing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New Feature Created: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lvl="1"/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Hour</a:t>
            </a:r>
            <a:r>
              <a:rPr lang="en-US" dirty="0"/>
              <a:t> → extracted from Time (Time // 3600 % 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Amount Standardization: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lvl="1"/>
            <a:r>
              <a:rPr lang="en-US" dirty="0"/>
              <a:t>Created </a:t>
            </a:r>
            <a:r>
              <a:rPr lang="en-US" dirty="0" err="1"/>
              <a:t>Amount</a:t>
            </a:r>
            <a:r>
              <a:rPr lang="en-US" b="1" dirty="0" err="1"/>
              <a:t>_</a:t>
            </a:r>
            <a:r>
              <a:rPr lang="en-US" dirty="0" err="1"/>
              <a:t>scaled</a:t>
            </a:r>
            <a:r>
              <a:rPr lang="en-US" dirty="0"/>
              <a:t> using Z-score</a:t>
            </a:r>
          </a:p>
          <a:p>
            <a:pPr lvl="1"/>
            <a:r>
              <a:rPr lang="en-US" dirty="0"/>
              <a:t>Makes model stable across varying transaction amounts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Removed Raw Columns: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lvl="1"/>
            <a:r>
              <a:rPr lang="en-US" dirty="0"/>
              <a:t>Dropped </a:t>
            </a:r>
            <a:r>
              <a:rPr lang="en-US" b="1" dirty="0"/>
              <a:t>Time</a:t>
            </a:r>
            <a:r>
              <a:rPr lang="en-US" dirty="0"/>
              <a:t> and </a:t>
            </a:r>
            <a:r>
              <a:rPr lang="en-US" b="1" dirty="0"/>
              <a:t>Amount</a:t>
            </a:r>
            <a:r>
              <a:rPr lang="en-US" dirty="0"/>
              <a:t> after deriving useful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Used Pipeline + </a:t>
            </a:r>
            <a:r>
              <a:rPr lang="en-US" b="1" dirty="0" err="1">
                <a:latin typeface="Raavi" panose="020B0502040204020203" pitchFamily="34" charset="0"/>
                <a:cs typeface="Raavi" panose="020B0502040204020203" pitchFamily="34" charset="0"/>
              </a:rPr>
              <a:t>StandardScaler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: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lvl="1"/>
            <a:r>
              <a:rPr lang="en-US" dirty="0"/>
              <a:t>Ensures consistent preprocessing during training &amp;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No Missing Values:</a:t>
            </a:r>
            <a:endParaRPr lang="en-US" dirty="0">
              <a:latin typeface="Raavi" panose="020B0502040204020203" pitchFamily="34" charset="0"/>
              <a:cs typeface="Raavi" panose="020B0502040204020203" pitchFamily="34" charset="0"/>
            </a:endParaRPr>
          </a:p>
          <a:p>
            <a:pPr lvl="1"/>
            <a:r>
              <a:rPr lang="en-US" dirty="0"/>
              <a:t>Dataset clean and ready for modelling</a:t>
            </a:r>
          </a:p>
        </p:txBody>
      </p:sp>
    </p:spTree>
    <p:extLst>
      <p:ext uri="{BB962C8B-B14F-4D97-AF65-F5344CB8AC3E}">
        <p14:creationId xmlns:p14="http://schemas.microsoft.com/office/powerpoint/2010/main" val="420039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079CD37-0350-424A-9C68-63BE333F5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A9D9DF-B973-4B1A-A45B-E97B1119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32918-FB75-325C-40EA-944CC989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567" y="437856"/>
            <a:ext cx="9492866" cy="57600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spc="-100" dirty="0"/>
              <a:t>MACHINE LEARNING MODELS USED</a:t>
            </a:r>
            <a:br>
              <a:rPr lang="en-US" sz="2000" spc="-100" dirty="0"/>
            </a:br>
            <a:endParaRPr lang="en-US" sz="2000" spc="-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F3AECA-1E28-4DB0-901D-747B82759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20" name="Freeform 78">
              <a:extLst>
                <a:ext uri="{FF2B5EF4-FFF2-40B4-BE49-F238E27FC236}">
                  <a16:creationId xmlns:a16="http://schemas.microsoft.com/office/drawing/2014/main" id="{F137E6B0-A1AA-47FF-AAB8-9E5D6B701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79">
              <a:extLst>
                <a:ext uri="{FF2B5EF4-FFF2-40B4-BE49-F238E27FC236}">
                  <a16:creationId xmlns:a16="http://schemas.microsoft.com/office/drawing/2014/main" id="{F72FB821-5AF0-4EA1-B84B-D5E12D833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2" name="Freeform 85">
              <a:extLst>
                <a:ext uri="{FF2B5EF4-FFF2-40B4-BE49-F238E27FC236}">
                  <a16:creationId xmlns:a16="http://schemas.microsoft.com/office/drawing/2014/main" id="{DFE0F740-8A45-42B9-BEF6-A75329504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14C51D-3B74-4CCB-82B8-A184460F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5210" y="268794"/>
            <a:ext cx="632305" cy="1606552"/>
            <a:chOff x="10224385" y="954724"/>
            <a:chExt cx="1324087" cy="3364228"/>
          </a:xfrm>
        </p:grpSpPr>
        <p:sp>
          <p:nvSpPr>
            <p:cNvPr id="25" name="Freeform 80">
              <a:extLst>
                <a:ext uri="{FF2B5EF4-FFF2-40B4-BE49-F238E27FC236}">
                  <a16:creationId xmlns:a16="http://schemas.microsoft.com/office/drawing/2014/main" id="{66CD91DA-BDB8-476E-8111-2918188D6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6" name="Freeform 84">
              <a:extLst>
                <a:ext uri="{FF2B5EF4-FFF2-40B4-BE49-F238E27FC236}">
                  <a16:creationId xmlns:a16="http://schemas.microsoft.com/office/drawing/2014/main" id="{576CF7BA-63E8-47BF-AB8E-E9134BE8E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7" name="Freeform 87">
              <a:extLst>
                <a:ext uri="{FF2B5EF4-FFF2-40B4-BE49-F238E27FC236}">
                  <a16:creationId xmlns:a16="http://schemas.microsoft.com/office/drawing/2014/main" id="{C0C95E2B-D068-4E18-85DE-266A42E6C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13F3963-915E-4812-8B39-BE6EA7CC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4524375" y="-809624"/>
            <a:ext cx="3143251" cy="12192001"/>
          </a:xfrm>
          <a:custGeom>
            <a:avLst/>
            <a:gdLst>
              <a:gd name="connsiteX0" fmla="*/ 508 w 2932134"/>
              <a:gd name="connsiteY0" fmla="*/ 4431100 h 12192000"/>
              <a:gd name="connsiteX1" fmla="*/ 137030 w 2932134"/>
              <a:gd name="connsiteY1" fmla="*/ 177371 h 12192000"/>
              <a:gd name="connsiteX2" fmla="*/ 145443 w 2932134"/>
              <a:gd name="connsiteY2" fmla="*/ 0 h 12192000"/>
              <a:gd name="connsiteX3" fmla="*/ 2932134 w 2932134"/>
              <a:gd name="connsiteY3" fmla="*/ 0 h 12192000"/>
              <a:gd name="connsiteX4" fmla="*/ 2932133 w 2932134"/>
              <a:gd name="connsiteY4" fmla="*/ 12192000 h 12192000"/>
              <a:gd name="connsiteX5" fmla="*/ 172151 w 2932134"/>
              <a:gd name="connsiteY5" fmla="*/ 12192000 h 12192000"/>
              <a:gd name="connsiteX6" fmla="*/ 169761 w 2932134"/>
              <a:gd name="connsiteY6" fmla="*/ 12180928 h 12192000"/>
              <a:gd name="connsiteX7" fmla="*/ 169761 w 2932134"/>
              <a:gd name="connsiteY7" fmla="*/ 7234593 h 12192000"/>
              <a:gd name="connsiteX8" fmla="*/ 508 w 2932134"/>
              <a:gd name="connsiteY8" fmla="*/ 44311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2134" h="12192000">
                <a:moveTo>
                  <a:pt x="508" y="4431100"/>
                </a:moveTo>
                <a:cubicBezTo>
                  <a:pt x="-7698" y="2846728"/>
                  <a:pt x="85554" y="1238574"/>
                  <a:pt x="137030" y="177371"/>
                </a:cubicBezTo>
                <a:lnTo>
                  <a:pt x="145443" y="0"/>
                </a:lnTo>
                <a:lnTo>
                  <a:pt x="2932134" y="0"/>
                </a:lnTo>
                <a:lnTo>
                  <a:pt x="2932133" y="12192000"/>
                </a:lnTo>
                <a:lnTo>
                  <a:pt x="172151" y="12192000"/>
                </a:lnTo>
                <a:lnTo>
                  <a:pt x="169761" y="12180928"/>
                </a:lnTo>
                <a:cubicBezTo>
                  <a:pt x="169761" y="11800439"/>
                  <a:pt x="169761" y="10278492"/>
                  <a:pt x="169761" y="7234593"/>
                </a:cubicBezTo>
                <a:cubicBezTo>
                  <a:pt x="50398" y="6402277"/>
                  <a:pt x="5637" y="5421334"/>
                  <a:pt x="508" y="443110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43E46-33BA-0CA9-7D6F-9B3D3FBAB918}"/>
              </a:ext>
            </a:extLst>
          </p:cNvPr>
          <p:cNvSpPr txBox="1"/>
          <p:nvPr/>
        </p:nvSpPr>
        <p:spPr>
          <a:xfrm>
            <a:off x="720001" y="1835414"/>
            <a:ext cx="481452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1. Logistic Regression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Linear model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Fast and interpretable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Good baseline for binary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8D7BB-92C3-FFAD-A21E-E79657184B0F}"/>
              </a:ext>
            </a:extLst>
          </p:cNvPr>
          <p:cNvSpPr txBox="1"/>
          <p:nvPr/>
        </p:nvSpPr>
        <p:spPr>
          <a:xfrm>
            <a:off x="720001" y="3882189"/>
            <a:ext cx="481452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3. K-Nearest Neighbors (KNN)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Instance-based, non-parametric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Predicts based on nearest training samples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Good for pattern similarity detection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Slow on large datasets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92BFB-AB66-E3C2-7F1B-B10AF1104BC1}"/>
              </a:ext>
            </a:extLst>
          </p:cNvPr>
          <p:cNvSpPr txBox="1"/>
          <p:nvPr/>
        </p:nvSpPr>
        <p:spPr>
          <a:xfrm>
            <a:off x="6224337" y="3737811"/>
            <a:ext cx="524527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5. Decision Tree Classifier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Rule-based, interpretable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Captures non-linear feature interactions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Can overfit if not regularized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Good baseline for tree-based learners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68C32-40B0-084F-9331-67599606E01C}"/>
              </a:ext>
            </a:extLst>
          </p:cNvPr>
          <p:cNvSpPr txBox="1"/>
          <p:nvPr/>
        </p:nvSpPr>
        <p:spPr>
          <a:xfrm>
            <a:off x="6386003" y="1835413"/>
            <a:ext cx="5245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2. Naive Bayes (</a:t>
            </a:r>
            <a:r>
              <a:rPr lang="en-US" b="1" dirty="0" err="1">
                <a:latin typeface="Amasis MT Pro Black" panose="02040A04050005020304" pitchFamily="18" charset="0"/>
              </a:rPr>
              <a:t>GaussianNB</a:t>
            </a:r>
            <a:r>
              <a:rPr lang="en-US" b="1" dirty="0">
                <a:latin typeface="Amasis MT Pro Black" panose="02040A040500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Probabilistic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Assumes feature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Very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Good benchmark for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65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D1035C-3BF0-4FE0-B3A3-1062F860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03D74-2A56-A381-6778-BE8CB45B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dirty="0"/>
              <a:t>MODEL EVALUATION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5E85C-F5F9-C88E-14EF-9E2AEC25B1B9}"/>
              </a:ext>
            </a:extLst>
          </p:cNvPr>
          <p:cNvSpPr txBox="1"/>
          <p:nvPr/>
        </p:nvSpPr>
        <p:spPr>
          <a:xfrm>
            <a:off x="6432884" y="2213811"/>
            <a:ext cx="527785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Training vs Testing Evaluation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We evaluate our models on 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both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1. Training Set Evaluation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Shows how well the model learned patterns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Helps detect overfitting (very high train metrics, low test metrics)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Amasis MT Pro Black" panose="02040A04050005020304" pitchFamily="18" charset="0"/>
              </a:rPr>
              <a:t>2. Testing Set Evaluation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Measures real</a:t>
            </a:r>
            <a:r>
              <a:rPr lang="en-US" b="1" dirty="0">
                <a:latin typeface="Raavi" panose="020B0502040204020203" pitchFamily="34" charset="0"/>
                <a:cs typeface="Raavi" panose="020B0502040204020203" pitchFamily="34" charset="0"/>
              </a:rPr>
              <a:t> </a:t>
            </a: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performance on unseen data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Used for final model selection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Prioritizes catching frauds (Recall)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8CB64-0028-6F06-E777-3F91CA5027D7}"/>
              </a:ext>
            </a:extLst>
          </p:cNvPr>
          <p:cNvSpPr txBox="1"/>
          <p:nvPr/>
        </p:nvSpPr>
        <p:spPr>
          <a:xfrm>
            <a:off x="720000" y="2422358"/>
            <a:ext cx="52778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Evaluation is Important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Fraud datasets are highly imbalanced.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So we must evaluate models carefully using metrics that reveal: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How many frauds were actually caught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How many false alarms occur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Whether the model is generalizing or overfitting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77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2199-BCC3-B5A8-B07A-43CB02CA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021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Metrics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1A4E9-098D-BF20-57DB-66F389AD9574}"/>
              </a:ext>
            </a:extLst>
          </p:cNvPr>
          <p:cNvSpPr txBox="1"/>
          <p:nvPr/>
        </p:nvSpPr>
        <p:spPr>
          <a:xfrm>
            <a:off x="497304" y="1652337"/>
            <a:ext cx="4299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predictions are 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Misleading for imbalanced data</a:t>
            </a:r>
            <a:br>
              <a:rPr lang="en-US" dirty="0"/>
            </a:br>
            <a:r>
              <a:rPr lang="en-US" dirty="0"/>
              <a:t>(A model predicting all transactions as “non-fraud” will still get 99% accuracy)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E1A31-252A-3061-13CA-56B429C973BE}"/>
              </a:ext>
            </a:extLst>
          </p:cNvPr>
          <p:cNvSpPr txBox="1"/>
          <p:nvPr/>
        </p:nvSpPr>
        <p:spPr>
          <a:xfrm>
            <a:off x="6849979" y="1674674"/>
            <a:ext cx="4122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Recall (Sensitivity) — MOST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 of actual frauds, how many the model caught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 a fraud is very costly → </a:t>
            </a:r>
            <a:r>
              <a:rPr lang="en-US" b="1" dirty="0"/>
              <a:t>Recall must be high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6A06C-C8C1-F339-6536-5118DF948BD7}"/>
              </a:ext>
            </a:extLst>
          </p:cNvPr>
          <p:cNvSpPr txBox="1"/>
          <p:nvPr/>
        </p:nvSpPr>
        <p:spPr>
          <a:xfrm>
            <a:off x="497304" y="4427619"/>
            <a:ext cx="4299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 of predicted frauds, how many are actually fraud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precision reduces false alarms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8211A-9024-791A-7D6F-E92102A2164D}"/>
              </a:ext>
            </a:extLst>
          </p:cNvPr>
          <p:cNvSpPr txBox="1"/>
          <p:nvPr/>
        </p:nvSpPr>
        <p:spPr>
          <a:xfrm>
            <a:off x="6849979" y="4427619"/>
            <a:ext cx="41228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F1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Harmonic mean of Precision &amp;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metric when classes are imbalanced</a:t>
            </a:r>
          </a:p>
        </p:txBody>
      </p:sp>
    </p:spTree>
    <p:extLst>
      <p:ext uri="{BB962C8B-B14F-4D97-AF65-F5344CB8AC3E}">
        <p14:creationId xmlns:p14="http://schemas.microsoft.com/office/powerpoint/2010/main" val="299763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A3E2477-CB24-4FE6-B9C0-F9800FF83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5638C-2268-4A1B-96C3-95E79EF4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A9DB0-0162-6A1D-C3EF-73846BB5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4991961" cy="1477328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/>
              <a:t>BEST MODEL SELECTION</a:t>
            </a: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97D0825D-5142-4F4A-A141-3CCD5E99C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867335" y="533334"/>
            <a:ext cx="6858000" cy="5791331"/>
          </a:xfrm>
          <a:custGeom>
            <a:avLst/>
            <a:gdLst>
              <a:gd name="connsiteX0" fmla="*/ 6858000 w 6858000"/>
              <a:gd name="connsiteY0" fmla="*/ 14535 h 5791331"/>
              <a:gd name="connsiteX1" fmla="*/ 6858000 w 6858000"/>
              <a:gd name="connsiteY1" fmla="*/ 5791331 h 5791331"/>
              <a:gd name="connsiteX2" fmla="*/ 0 w 6858000"/>
              <a:gd name="connsiteY2" fmla="*/ 5791330 h 5791331"/>
              <a:gd name="connsiteX3" fmla="*/ 0 w 6858000"/>
              <a:gd name="connsiteY3" fmla="*/ 0 h 5791331"/>
              <a:gd name="connsiteX4" fmla="*/ 145832 w 6858000"/>
              <a:gd name="connsiteY4" fmla="*/ 1175 h 5791331"/>
              <a:gd name="connsiteX5" fmla="*/ 2611132 w 6858000"/>
              <a:gd name="connsiteY5" fmla="*/ 48625 h 5791331"/>
              <a:gd name="connsiteX6" fmla="*/ 6643031 w 6858000"/>
              <a:gd name="connsiteY6" fmla="*/ 15010 h 579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5791331">
                <a:moveTo>
                  <a:pt x="6858000" y="14535"/>
                </a:moveTo>
                <a:lnTo>
                  <a:pt x="6858000" y="5791331"/>
                </a:lnTo>
                <a:lnTo>
                  <a:pt x="0" y="5791330"/>
                </a:lnTo>
                <a:lnTo>
                  <a:pt x="0" y="0"/>
                </a:lnTo>
                <a:lnTo>
                  <a:pt x="145832" y="1175"/>
                </a:lnTo>
                <a:cubicBezTo>
                  <a:pt x="886907" y="14750"/>
                  <a:pt x="2228596" y="125101"/>
                  <a:pt x="2611132" y="48625"/>
                </a:cubicBezTo>
                <a:cubicBezTo>
                  <a:pt x="2933352" y="-3056"/>
                  <a:pt x="5032814" y="16325"/>
                  <a:pt x="6643031" y="1501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24E70-5172-38D6-F5BD-ABFF2555FFD1}"/>
              </a:ext>
            </a:extLst>
          </p:cNvPr>
          <p:cNvSpPr txBox="1"/>
          <p:nvPr/>
        </p:nvSpPr>
        <p:spPr>
          <a:xfrm>
            <a:off x="5791200" y="2085474"/>
            <a:ext cx="3801979" cy="1343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D8384-912B-8D21-A5C3-207BFFBAB59A}"/>
              </a:ext>
            </a:extLst>
          </p:cNvPr>
          <p:cNvSpPr txBox="1"/>
          <p:nvPr/>
        </p:nvSpPr>
        <p:spPr>
          <a:xfrm>
            <a:off x="561474" y="4379496"/>
            <a:ext cx="3400925" cy="173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FA483-5F92-544B-4B1F-B3CE7DEA78BC}"/>
              </a:ext>
            </a:extLst>
          </p:cNvPr>
          <p:cNvSpPr txBox="1"/>
          <p:nvPr/>
        </p:nvSpPr>
        <p:spPr>
          <a:xfrm>
            <a:off x="6096000" y="3994484"/>
            <a:ext cx="3224463" cy="173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5FB25-3443-46F0-40CF-6CB3857D728B}"/>
              </a:ext>
            </a:extLst>
          </p:cNvPr>
          <p:cNvSpPr txBox="1"/>
          <p:nvPr/>
        </p:nvSpPr>
        <p:spPr>
          <a:xfrm>
            <a:off x="6657474" y="1940075"/>
            <a:ext cx="5229726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What Recall Does to Our Model</a:t>
            </a:r>
          </a:p>
          <a:p>
            <a:pPr>
              <a:spcAft>
                <a:spcPts val="600"/>
              </a:spcAft>
            </a:pPr>
            <a:r>
              <a:rPr lang="en-US" dirty="0"/>
              <a:t>A high-recall model: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Detects </a:t>
            </a:r>
            <a:r>
              <a:rPr lang="en-US" b="1" dirty="0"/>
              <a:t>maximum fraud cases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Reduces </a:t>
            </a:r>
            <a:r>
              <a:rPr lang="en-US" b="1" dirty="0"/>
              <a:t>False Negatives (FN)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Ensures </a:t>
            </a:r>
            <a:r>
              <a:rPr lang="en-US" b="1" dirty="0"/>
              <a:t>safety-first predictions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Brings the model closer to real-world fraud detection behavior</a:t>
            </a:r>
          </a:p>
          <a:p>
            <a:pPr>
              <a:spcAft>
                <a:spcPts val="600"/>
              </a:spcAft>
            </a:pPr>
            <a:r>
              <a:rPr lang="en-US" dirty="0"/>
              <a:t>A low-recall model: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Misses many frauds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Unsafe for financial use</a:t>
            </a:r>
            <a:br>
              <a:rPr lang="en-US" dirty="0"/>
            </a:br>
            <a:r>
              <a:rPr lang="en-US" dirty="0"/>
              <a:t> Cannot be deployed in real banking systems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85075-3E10-B3F7-A2DD-8736CF4783C2}"/>
              </a:ext>
            </a:extLst>
          </p:cNvPr>
          <p:cNvSpPr txBox="1"/>
          <p:nvPr/>
        </p:nvSpPr>
        <p:spPr>
          <a:xfrm>
            <a:off x="480935" y="3121060"/>
            <a:ext cx="57913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Evaluation is Important</a:t>
            </a:r>
          </a:p>
          <a:p>
            <a:r>
              <a:rPr lang="en-US" dirty="0"/>
              <a:t>Fraud datasets are highly imbalanced.</a:t>
            </a:r>
            <a:br>
              <a:rPr lang="en-US" dirty="0"/>
            </a:br>
            <a:r>
              <a:rPr lang="en-US" dirty="0"/>
              <a:t>So we must evaluate models carefully using metrics that reveal:</a:t>
            </a:r>
          </a:p>
          <a:p>
            <a:r>
              <a:rPr lang="en-US" dirty="0"/>
              <a:t>How many frauds were actually caught</a:t>
            </a:r>
          </a:p>
          <a:p>
            <a:r>
              <a:rPr lang="en-US" dirty="0"/>
              <a:t>How many false alarms occur</a:t>
            </a:r>
          </a:p>
          <a:p>
            <a:r>
              <a:rPr lang="en-US" dirty="0"/>
              <a:t>Whether the model is generalizing or overfitting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91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7CB4E2-DBAA-E9A8-D9DB-10DC9B86A6DB}"/>
              </a:ext>
            </a:extLst>
          </p:cNvPr>
          <p:cNvSpPr txBox="1"/>
          <p:nvPr/>
        </p:nvSpPr>
        <p:spPr>
          <a:xfrm>
            <a:off x="6497053" y="887835"/>
            <a:ext cx="50532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How We Selected the Best Model</a:t>
            </a:r>
          </a:p>
          <a:p>
            <a:r>
              <a:rPr lang="en-US" dirty="0"/>
              <a:t>We selected the model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Highest Test Recall → catches most frauds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Good ROC-AUC → separates fraud vs non-fraud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Stable Train vs Test results → no excessive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Acceptable Precision → fewer false alarms</a:t>
            </a:r>
          </a:p>
          <a:p>
            <a:r>
              <a:rPr lang="en-US" dirty="0">
                <a:latin typeface="Raavi" panose="020B0502040204020203" pitchFamily="34" charset="0"/>
                <a:cs typeface="Raavi" panose="020B0502040204020203" pitchFamily="34" charset="0"/>
              </a:rPr>
              <a:t>This ensures the chosen model is safe, reliable, and suitable for real-world fraud detection.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EE5A4-7179-3F2C-B074-8103F2B53426}"/>
              </a:ext>
            </a:extLst>
          </p:cNvPr>
          <p:cNvSpPr txBox="1"/>
          <p:nvPr/>
        </p:nvSpPr>
        <p:spPr>
          <a:xfrm>
            <a:off x="641685" y="887834"/>
            <a:ext cx="505326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FFFFFF"/>
                </a:solidFill>
                <a:latin typeface="Amasis MT Pro Black" panose="02040A04050005020304" pitchFamily="18" charset="0"/>
              </a:rPr>
              <a:t>Model Comparison Approach</a:t>
            </a:r>
          </a:p>
          <a:p>
            <a:r>
              <a:rPr lang="en-IN" dirty="0">
                <a:solidFill>
                  <a:srgbClr val="FFFFFF"/>
                </a:solidFill>
                <a:latin typeface="ui-sans-serif"/>
              </a:rPr>
              <a:t>We compared all models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FFFF"/>
                </a:solidFill>
                <a:latin typeface="ui-sans-serif"/>
              </a:rPr>
              <a:t>Training Metrics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 (checks learning + overfitting)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FFFF"/>
                </a:solidFill>
                <a:latin typeface="ui-sans-serif"/>
              </a:rPr>
              <a:t>Testing Metrics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 (true generalization)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Precision, Recall, F1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ROC-AUC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Confusion Matrix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9B70F-8454-C1D1-C560-5EF4D35A75EB}"/>
              </a:ext>
            </a:extLst>
          </p:cNvPr>
          <p:cNvSpPr txBox="1"/>
          <p:nvPr/>
        </p:nvSpPr>
        <p:spPr>
          <a:xfrm>
            <a:off x="786063" y="4684295"/>
            <a:ext cx="10748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Best Model</a:t>
            </a:r>
          </a:p>
          <a:p>
            <a:r>
              <a:rPr lang="en-US" dirty="0"/>
              <a:t>Based on the following rules , the </a:t>
            </a:r>
            <a:r>
              <a:rPr lang="en-US" b="1" dirty="0"/>
              <a:t>”Logistic Regression” </a:t>
            </a:r>
            <a:r>
              <a:rPr lang="en-US" dirty="0"/>
              <a:t>with the </a:t>
            </a:r>
            <a:r>
              <a:rPr lang="en-US" b="1" dirty="0"/>
              <a:t>highest Test Recall</a:t>
            </a:r>
            <a:r>
              <a:rPr lang="en-US" dirty="0"/>
              <a:t> was selected as the best-performing fraud detection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21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5296-233B-7E86-1E8F-9C656B11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98232" cy="551874"/>
          </a:xfrm>
        </p:spPr>
        <p:txBody>
          <a:bodyPr/>
          <a:lstStyle/>
          <a:p>
            <a:pPr algn="ctr"/>
            <a:r>
              <a:rPr lang="en-IN" dirty="0"/>
              <a:t>CAVEATS &amp;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94192-9B1B-18C7-1D9B-A2B9FAB7CE65}"/>
              </a:ext>
            </a:extLst>
          </p:cNvPr>
          <p:cNvSpPr txBox="1"/>
          <p:nvPr/>
        </p:nvSpPr>
        <p:spPr>
          <a:xfrm>
            <a:off x="352927" y="1572996"/>
            <a:ext cx="3272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Extreme Class Imbalance</a:t>
            </a:r>
          </a:p>
          <a:p>
            <a:r>
              <a:rPr lang="en-US" dirty="0"/>
              <a:t>Fraud cases are only </a:t>
            </a:r>
            <a:r>
              <a:rPr lang="en-US" b="1" dirty="0"/>
              <a:t>0.17%</a:t>
            </a:r>
            <a:r>
              <a:rPr lang="en-US" dirty="0"/>
              <a:t> of total data</a:t>
            </a:r>
          </a:p>
          <a:p>
            <a:r>
              <a:rPr lang="en-US" dirty="0"/>
              <a:t>Models may become biased toward predicting </a:t>
            </a:r>
            <a:r>
              <a:rPr lang="en-US" i="1" dirty="0"/>
              <a:t>non-fraud</a:t>
            </a:r>
            <a:endParaRPr lang="en-US" dirty="0"/>
          </a:p>
          <a:p>
            <a:r>
              <a:rPr lang="en-US" dirty="0"/>
              <a:t>Requires techniques like class weighting or SMOTE (not used here)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EC9C2-87B0-A01B-6BF8-2DE6AE847FA4}"/>
              </a:ext>
            </a:extLst>
          </p:cNvPr>
          <p:cNvSpPr txBox="1"/>
          <p:nvPr/>
        </p:nvSpPr>
        <p:spPr>
          <a:xfrm>
            <a:off x="4122821" y="1604211"/>
            <a:ext cx="365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PCA-Transformed Features</a:t>
            </a:r>
          </a:p>
          <a:p>
            <a:r>
              <a:rPr lang="en-US" dirty="0"/>
              <a:t>V1–V28 are </a:t>
            </a:r>
            <a:r>
              <a:rPr lang="en-US" b="1" dirty="0"/>
              <a:t>anonymized PCA components</a:t>
            </a:r>
            <a:endParaRPr lang="en-US" dirty="0"/>
          </a:p>
          <a:p>
            <a:r>
              <a:rPr lang="en-US" dirty="0"/>
              <a:t>Hard to interpret which real features influence fraud</a:t>
            </a:r>
          </a:p>
          <a:p>
            <a:r>
              <a:rPr lang="en-US" dirty="0"/>
              <a:t>Limits explainability of the model’s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83D11-7253-E57D-782E-FEB5CA1B806C}"/>
              </a:ext>
            </a:extLst>
          </p:cNvPr>
          <p:cNvSpPr txBox="1"/>
          <p:nvPr/>
        </p:nvSpPr>
        <p:spPr>
          <a:xfrm>
            <a:off x="8277726" y="1524000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Risk of Overfitting</a:t>
            </a:r>
          </a:p>
          <a:p>
            <a:r>
              <a:rPr lang="en-US" dirty="0"/>
              <a:t>Some models (Decision Tree, KNN, SVM) may overfit</a:t>
            </a:r>
          </a:p>
          <a:p>
            <a:r>
              <a:rPr lang="en-US" dirty="0"/>
              <a:t>Train metrics can be higher than test metrics</a:t>
            </a:r>
          </a:p>
          <a:p>
            <a:r>
              <a:rPr lang="en-US" dirty="0"/>
              <a:t>Requires tuning/max-depth regularization for production use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EA92D-10CE-25D0-29ED-2FA06AA3F76A}"/>
              </a:ext>
            </a:extLst>
          </p:cNvPr>
          <p:cNvSpPr txBox="1"/>
          <p:nvPr/>
        </p:nvSpPr>
        <p:spPr>
          <a:xfrm>
            <a:off x="256674" y="4283242"/>
            <a:ext cx="3272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No Real-Time Deployment in This Version</a:t>
            </a:r>
          </a:p>
          <a:p>
            <a:r>
              <a:rPr lang="en-US" dirty="0"/>
              <a:t>The project predicts in batch mode (offline)</a:t>
            </a:r>
          </a:p>
          <a:p>
            <a:r>
              <a:rPr lang="en-US" dirty="0"/>
              <a:t>Not yet integrated with APIs or streaming systems</a:t>
            </a:r>
          </a:p>
          <a:p>
            <a:r>
              <a:rPr lang="en-US" dirty="0"/>
              <a:t>Real-time fraud detection requires low-latency infrastructure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402E2-4A29-A137-6AC5-1CD672BD8D11}"/>
              </a:ext>
            </a:extLst>
          </p:cNvPr>
          <p:cNvSpPr txBox="1"/>
          <p:nvPr/>
        </p:nvSpPr>
        <p:spPr>
          <a:xfrm>
            <a:off x="4154905" y="4283242"/>
            <a:ext cx="3497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Threshold Not Tuned</a:t>
            </a:r>
          </a:p>
          <a:p>
            <a:r>
              <a:rPr lang="en-US" dirty="0"/>
              <a:t>ML models use default decision threshold (0.5)</a:t>
            </a:r>
          </a:p>
          <a:p>
            <a:r>
              <a:rPr lang="en-US" dirty="0"/>
              <a:t>For fraud, threshold should be manually optimized for higher Recall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8E2F5-3241-6476-B657-11EC84AC9872}"/>
              </a:ext>
            </a:extLst>
          </p:cNvPr>
          <p:cNvSpPr txBox="1"/>
          <p:nvPr/>
        </p:nvSpPr>
        <p:spPr>
          <a:xfrm>
            <a:off x="8277726" y="4283242"/>
            <a:ext cx="3497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Limitations</a:t>
            </a:r>
          </a:p>
          <a:p>
            <a:r>
              <a:rPr lang="en-US" dirty="0"/>
              <a:t>Data comes from 2013, and fraud patterns evolve over time</a:t>
            </a:r>
          </a:p>
          <a:p>
            <a:r>
              <a:rPr lang="en-US" dirty="0"/>
              <a:t>Model may need periodic retraining with updated datasets</a:t>
            </a:r>
          </a:p>
        </p:txBody>
      </p:sp>
    </p:spTree>
    <p:extLst>
      <p:ext uri="{BB962C8B-B14F-4D97-AF65-F5344CB8AC3E}">
        <p14:creationId xmlns:p14="http://schemas.microsoft.com/office/powerpoint/2010/main" val="128410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8B7C-13C8-BA53-27D7-68A3663D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6C6AC-2E36-0D61-C6F8-4C979DA9A91D}"/>
              </a:ext>
            </a:extLst>
          </p:cNvPr>
          <p:cNvSpPr txBox="1"/>
          <p:nvPr/>
        </p:nvSpPr>
        <p:spPr>
          <a:xfrm>
            <a:off x="465222" y="3848366"/>
            <a:ext cx="10844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successfully delivered a complete machine-learning solution for credit card fraud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built and evaluated several ML models to detect fraudulent credit card transactions.</a:t>
            </a:r>
            <a:br>
              <a:rPr lang="en-US" dirty="0"/>
            </a:br>
            <a:r>
              <a:rPr lang="en-US" dirty="0"/>
              <a:t>By choosing Recall as our priority metric, we focused on minimizing missed frauds, which is critical in financial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final selected model </a:t>
            </a:r>
            <a:r>
              <a:rPr lang="en-US" b="1" dirty="0"/>
              <a:t>“LOGISTIC REGRESSION”</a:t>
            </a:r>
            <a:r>
              <a:rPr lang="en-US" dirty="0"/>
              <a:t> shows strong generalization, high fraud-capture ability, and clear improvements over baseline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demonstrates how machine learning can significantly strengthen fraud prevention systems.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A881D-C9BB-F4C7-C2B8-792277858B53}"/>
              </a:ext>
            </a:extLst>
          </p:cNvPr>
          <p:cNvSpPr txBox="1"/>
          <p:nvPr/>
        </p:nvSpPr>
        <p:spPr>
          <a:xfrm>
            <a:off x="465221" y="1540042"/>
            <a:ext cx="108444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Achievements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class imbalance using class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pipelines to avoid data 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new features (</a:t>
            </a:r>
            <a:r>
              <a:rPr lang="en-US" dirty="0" err="1"/>
              <a:t>Amount_scaled</a:t>
            </a:r>
            <a:r>
              <a:rPr lang="en-US" dirty="0"/>
              <a:t>, Hour)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Visualized patterns with 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training + testing performance side-by-side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predictions on new unseen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511468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1184</Words>
  <Application>Microsoft Office PowerPoint</Application>
  <PresentationFormat>Widescreen</PresentationFormat>
  <Paragraphs>180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Amasis MT Pro Black</vt:lpstr>
      <vt:lpstr>Arial</vt:lpstr>
      <vt:lpstr>Avenir Next LT Pro</vt:lpstr>
      <vt:lpstr>Raavi</vt:lpstr>
      <vt:lpstr>Sagona Book</vt:lpstr>
      <vt:lpstr>The Hand Extrablack</vt:lpstr>
      <vt:lpstr>ui-sans-serif</vt:lpstr>
      <vt:lpstr>Wingdings</vt:lpstr>
      <vt:lpstr>BlobVTI</vt:lpstr>
      <vt:lpstr>Credit Card Fraud Detection Using Machine Learning</vt:lpstr>
      <vt:lpstr>PRESENTATION OUTLINE</vt:lpstr>
      <vt:lpstr>BACKGROUND &amp; PROBLEM STATEMENT</vt:lpstr>
      <vt:lpstr>DATASET OVERVIEW &amp; DATA PROCESSING</vt:lpstr>
      <vt:lpstr>MACHINE LEARNING MODELS USED </vt:lpstr>
      <vt:lpstr>MODEL EVALUATION STRATEGY</vt:lpstr>
      <vt:lpstr>Metrics Used </vt:lpstr>
      <vt:lpstr>BEST MODEL SELECTION</vt:lpstr>
      <vt:lpstr>PowerPoint Presentation</vt:lpstr>
      <vt:lpstr>CAVEATS &amp;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THANGUDU ARYAN CHAND</dc:creator>
  <cp:lastModifiedBy>THANGUDU ARYAN CHAND</cp:lastModifiedBy>
  <cp:revision>4</cp:revision>
  <dcterms:created xsi:type="dcterms:W3CDTF">2025-12-02T07:08:32Z</dcterms:created>
  <dcterms:modified xsi:type="dcterms:W3CDTF">2025-12-03T15:55:16Z</dcterms:modified>
</cp:coreProperties>
</file>